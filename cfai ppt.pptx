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" panose="00000500000000000000" pitchFamily="2" charset="0"/>
      <p:regular r:id="rId12"/>
    </p:embeddedFont>
    <p:embeddedFont>
      <p:font typeface="Open Sauce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396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76123" y="-483383"/>
            <a:ext cx="7774414" cy="7474773"/>
            <a:chOff x="0" y="0"/>
            <a:chExt cx="10365885" cy="996636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927" b="1927"/>
            <a:stretch>
              <a:fillRect/>
            </a:stretch>
          </p:blipFill>
          <p:spPr>
            <a:xfrm>
              <a:off x="0" y="0"/>
              <a:ext cx="10365885" cy="9966364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028700" y="5676903"/>
            <a:ext cx="9847423" cy="2786625"/>
            <a:chOff x="0" y="0"/>
            <a:chExt cx="2593560" cy="3877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93560" cy="387724"/>
            </a:xfrm>
            <a:custGeom>
              <a:avLst/>
              <a:gdLst/>
              <a:ahLst/>
              <a:cxnLst/>
              <a:rect l="l" t="t" r="r" b="b"/>
              <a:pathLst>
                <a:path w="2593560" h="387724">
                  <a:moveTo>
                    <a:pt x="0" y="0"/>
                  </a:moveTo>
                  <a:lnTo>
                    <a:pt x="2593560" y="0"/>
                  </a:lnTo>
                  <a:lnTo>
                    <a:pt x="2593560" y="387724"/>
                  </a:lnTo>
                  <a:lnTo>
                    <a:pt x="0" y="387724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93560" cy="425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61186" y="323467"/>
            <a:ext cx="8598940" cy="3599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39"/>
              </a:lnSpc>
            </a:pPr>
            <a:r>
              <a:rPr lang="en-US" sz="9339" dirty="0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Hybrid Incident Response Agent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1" y="5829300"/>
            <a:ext cx="7467600" cy="2464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937"/>
              </a:lnSpc>
            </a:pPr>
            <a:r>
              <a:rPr lang="en-US" sz="281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 the Guidance of Dr G. Sudhakar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281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Presented by: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281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Bhavani Tanya Sri(2520030112)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281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2.Ch.Sai Geethika(2520090108)</a:t>
            </a:r>
          </a:p>
          <a:p>
            <a:pPr marL="0" lvl="0" indent="0" algn="l">
              <a:lnSpc>
                <a:spcPts val="3937"/>
              </a:lnSpc>
            </a:pPr>
            <a:r>
              <a:rPr lang="en-US" sz="281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P. </a:t>
            </a:r>
            <a:r>
              <a:rPr lang="en-US" sz="2812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Shashhe</a:t>
            </a:r>
            <a:r>
              <a:rPr lang="en-US" sz="2812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Preetham(2520030534)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13267" y="7670309"/>
            <a:ext cx="3736180" cy="96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37"/>
              </a:lnSpc>
            </a:pPr>
            <a:r>
              <a:rPr lang="en-US" sz="2812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AI-Powered Cybersecurity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1028700" y="92392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9144000" y="5676903"/>
            <a:ext cx="1732123" cy="2786625"/>
            <a:chOff x="0" y="0"/>
            <a:chExt cx="456197" cy="3877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6197" cy="387724"/>
            </a:xfrm>
            <a:custGeom>
              <a:avLst/>
              <a:gdLst/>
              <a:ahLst/>
              <a:cxnLst/>
              <a:rect l="l" t="t" r="r" b="b"/>
              <a:pathLst>
                <a:path w="456197" h="387724">
                  <a:moveTo>
                    <a:pt x="0" y="0"/>
                  </a:moveTo>
                  <a:lnTo>
                    <a:pt x="456197" y="0"/>
                  </a:lnTo>
                  <a:lnTo>
                    <a:pt x="456197" y="387724"/>
                  </a:lnTo>
                  <a:lnTo>
                    <a:pt x="0" y="387724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6197" cy="425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211184"/>
            <a:ext cx="18288000" cy="2075816"/>
            <a:chOff x="0" y="0"/>
            <a:chExt cx="24384000" cy="2767754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40732" b="42231"/>
            <a:stretch>
              <a:fillRect/>
            </a:stretch>
          </p:blipFill>
          <p:spPr>
            <a:xfrm>
              <a:off x="0" y="0"/>
              <a:ext cx="24384000" cy="2767754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1857897" y="1643462"/>
            <a:ext cx="5222223" cy="4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2"/>
              </a:lnSpc>
            </a:pPr>
            <a:r>
              <a:rPr lang="en-US" sz="2658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Abstract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82275" y="1481550"/>
            <a:ext cx="1275622" cy="95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4"/>
              </a:lnSpc>
            </a:pPr>
            <a:r>
              <a:rPr lang="en-US" sz="5596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57897" y="2501347"/>
            <a:ext cx="5222223" cy="4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2"/>
              </a:lnSpc>
            </a:pPr>
            <a:r>
              <a:rPr lang="en-US" sz="2658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Hardware Components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82275" y="2339435"/>
            <a:ext cx="1275622" cy="95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4"/>
              </a:lnSpc>
            </a:pPr>
            <a:r>
              <a:rPr lang="en-US" sz="5596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57897" y="3359232"/>
            <a:ext cx="5222223" cy="4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2"/>
              </a:lnSpc>
            </a:pPr>
            <a:r>
              <a:rPr lang="en-US" sz="2658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Software Components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82275" y="3197320"/>
            <a:ext cx="1275622" cy="95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4"/>
              </a:lnSpc>
            </a:pPr>
            <a:r>
              <a:rPr lang="en-US" sz="5596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57897" y="4217117"/>
            <a:ext cx="5222223" cy="4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2"/>
              </a:lnSpc>
            </a:pPr>
            <a:r>
              <a:rPr lang="en-US" sz="2658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Existing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82275" y="4055205"/>
            <a:ext cx="1275622" cy="95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4"/>
              </a:lnSpc>
            </a:pPr>
            <a:r>
              <a:rPr lang="en-US" sz="5596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57897" y="5075002"/>
            <a:ext cx="5222223" cy="4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2"/>
              </a:lnSpc>
            </a:pPr>
            <a:r>
              <a:rPr lang="en-US" sz="2658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Proposed System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82275" y="4913090"/>
            <a:ext cx="1275622" cy="95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4"/>
              </a:lnSpc>
            </a:pPr>
            <a:r>
              <a:rPr lang="en-US" sz="5596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57897" y="5932887"/>
            <a:ext cx="5222223" cy="456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2"/>
              </a:lnSpc>
            </a:pPr>
            <a:r>
              <a:rPr lang="en-US" sz="2658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82275" y="5770975"/>
            <a:ext cx="1275622" cy="95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34"/>
              </a:lnSpc>
            </a:pPr>
            <a:r>
              <a:rPr lang="en-US" sz="5596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1346328" y="1028700"/>
            <a:ext cx="10490328" cy="4810124"/>
            <a:chOff x="0" y="0"/>
            <a:chExt cx="2762885" cy="12668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62885" cy="1266864"/>
            </a:xfrm>
            <a:custGeom>
              <a:avLst/>
              <a:gdLst/>
              <a:ahLst/>
              <a:cxnLst/>
              <a:rect l="l" t="t" r="r" b="b"/>
              <a:pathLst>
                <a:path w="2762885" h="1266864">
                  <a:moveTo>
                    <a:pt x="0" y="0"/>
                  </a:moveTo>
                  <a:lnTo>
                    <a:pt x="2762885" y="0"/>
                  </a:lnTo>
                  <a:lnTo>
                    <a:pt x="2762885" y="1266864"/>
                  </a:lnTo>
                  <a:lnTo>
                    <a:pt x="0" y="1266864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762885" cy="1304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995210" y="2187257"/>
            <a:ext cx="6223912" cy="269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92"/>
              </a:lnSpc>
            </a:pPr>
            <a:r>
              <a:rPr lang="en-US" sz="1039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Table of Contents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-703423" y="1028700"/>
            <a:ext cx="1732123" cy="4814251"/>
            <a:chOff x="0" y="0"/>
            <a:chExt cx="456197" cy="12679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6197" cy="1267951"/>
            </a:xfrm>
            <a:custGeom>
              <a:avLst/>
              <a:gdLst/>
              <a:ahLst/>
              <a:cxnLst/>
              <a:rect l="l" t="t" r="r" b="b"/>
              <a:pathLst>
                <a:path w="456197" h="1267951">
                  <a:moveTo>
                    <a:pt x="0" y="0"/>
                  </a:moveTo>
                  <a:lnTo>
                    <a:pt x="456197" y="0"/>
                  </a:lnTo>
                  <a:lnTo>
                    <a:pt x="456197" y="1267951"/>
                  </a:lnTo>
                  <a:lnTo>
                    <a:pt x="0" y="1267951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56197" cy="1306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64131" y="-244896"/>
            <a:ext cx="2354983" cy="10823772"/>
            <a:chOff x="0" y="0"/>
            <a:chExt cx="620242" cy="28507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242" cy="2850705"/>
            </a:xfrm>
            <a:custGeom>
              <a:avLst/>
              <a:gdLst/>
              <a:ahLst/>
              <a:cxnLst/>
              <a:rect l="l" t="t" r="r" b="b"/>
              <a:pathLst>
                <a:path w="620242" h="2850705">
                  <a:moveTo>
                    <a:pt x="0" y="0"/>
                  </a:moveTo>
                  <a:lnTo>
                    <a:pt x="620242" y="0"/>
                  </a:lnTo>
                  <a:lnTo>
                    <a:pt x="620242" y="2850705"/>
                  </a:lnTo>
                  <a:lnTo>
                    <a:pt x="0" y="2850705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20242" cy="2888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7750" y="0"/>
            <a:ext cx="4068476" cy="10287000"/>
            <a:chOff x="0" y="0"/>
            <a:chExt cx="5424634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5307" r="15307"/>
            <a:stretch>
              <a:fillRect/>
            </a:stretch>
          </p:blipFill>
          <p:spPr>
            <a:xfrm>
              <a:off x="0" y="0"/>
              <a:ext cx="5424634" cy="1371600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6979811" y="3589920"/>
            <a:ext cx="8415904" cy="4919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Incident Response Agent (HIRA) is an AI-driven cybersecurity system designed to automate threat detection, analysis, and response. The system combines Search Algorithms, Constraint Satisfaction Problems (CSP), Bayesian Inference, Utility-Based Decision Making, and Explainable AI to provide intelligent and transparent security operations.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HIRA continuously monitors security events, identifies attack paths, evaluates risks, allocates resources efficiently, and assists human analysts in making informed decisions.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160285" y="5121330"/>
            <a:ext cx="1911881" cy="4136970"/>
            <a:chOff x="0" y="0"/>
            <a:chExt cx="503541" cy="10895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3541" cy="1089572"/>
            </a:xfrm>
            <a:custGeom>
              <a:avLst/>
              <a:gdLst/>
              <a:ahLst/>
              <a:cxnLst/>
              <a:rect l="l" t="t" r="r" b="b"/>
              <a:pathLst>
                <a:path w="503541" h="1089572">
                  <a:moveTo>
                    <a:pt x="0" y="0"/>
                  </a:moveTo>
                  <a:lnTo>
                    <a:pt x="503541" y="0"/>
                  </a:lnTo>
                  <a:lnTo>
                    <a:pt x="503541" y="1089572"/>
                  </a:lnTo>
                  <a:lnTo>
                    <a:pt x="0" y="10895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3541" cy="1127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998021" y="1769178"/>
            <a:ext cx="5619683" cy="137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10400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Abstract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259300" y="-489944"/>
            <a:ext cx="1911881" cy="1518644"/>
            <a:chOff x="0" y="0"/>
            <a:chExt cx="503541" cy="399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3541" cy="399972"/>
            </a:xfrm>
            <a:custGeom>
              <a:avLst/>
              <a:gdLst/>
              <a:ahLst/>
              <a:cxnLst/>
              <a:rect l="l" t="t" r="r" b="b"/>
              <a:pathLst>
                <a:path w="503541" h="399972">
                  <a:moveTo>
                    <a:pt x="0" y="0"/>
                  </a:moveTo>
                  <a:lnTo>
                    <a:pt x="503541" y="0"/>
                  </a:lnTo>
                  <a:lnTo>
                    <a:pt x="503541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3541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62746" y="0"/>
            <a:ext cx="6525254" cy="9258300"/>
            <a:chOff x="0" y="0"/>
            <a:chExt cx="8700339" cy="123444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202" b="2202"/>
            <a:stretch>
              <a:fillRect/>
            </a:stretch>
          </p:blipFill>
          <p:spPr>
            <a:xfrm>
              <a:off x="0" y="0"/>
              <a:ext cx="8700339" cy="1234440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817066" y="491215"/>
            <a:ext cx="8761674" cy="81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2"/>
              </a:lnSpc>
            </a:pPr>
            <a:r>
              <a:rPr lang="en-US" sz="6092" dirty="0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Hardware Components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566689" y="1152913"/>
            <a:ext cx="1911881" cy="1518644"/>
            <a:chOff x="0" y="0"/>
            <a:chExt cx="503541" cy="3999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3541" cy="399972"/>
            </a:xfrm>
            <a:custGeom>
              <a:avLst/>
              <a:gdLst/>
              <a:ahLst/>
              <a:cxnLst/>
              <a:rect l="l" t="t" r="r" b="b"/>
              <a:pathLst>
                <a:path w="503541" h="399972">
                  <a:moveTo>
                    <a:pt x="0" y="0"/>
                  </a:moveTo>
                  <a:lnTo>
                    <a:pt x="503541" y="0"/>
                  </a:lnTo>
                  <a:lnTo>
                    <a:pt x="503541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3541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9258300"/>
            <a:ext cx="11762746" cy="1518644"/>
            <a:chOff x="0" y="0"/>
            <a:chExt cx="3098007" cy="3999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98007" cy="399972"/>
            </a:xfrm>
            <a:custGeom>
              <a:avLst/>
              <a:gdLst/>
              <a:ahLst/>
              <a:cxnLst/>
              <a:rect l="l" t="t" r="r" b="b"/>
              <a:pathLst>
                <a:path w="3098007" h="399972">
                  <a:moveTo>
                    <a:pt x="0" y="0"/>
                  </a:moveTo>
                  <a:lnTo>
                    <a:pt x="3098007" y="0"/>
                  </a:lnTo>
                  <a:lnTo>
                    <a:pt x="3098007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098007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V="1">
            <a:off x="1047750" y="3453734"/>
            <a:ext cx="0" cy="4958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8E3093-1632-4F08-2BA3-F5A62BB85975}"/>
              </a:ext>
            </a:extLst>
          </p:cNvPr>
          <p:cNvSpPr txBox="1"/>
          <p:nvPr/>
        </p:nvSpPr>
        <p:spPr>
          <a:xfrm>
            <a:off x="1447030" y="1532858"/>
            <a:ext cx="91440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Infrastructure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the HIRA application and security services.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threat detection and response operations.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CPU/GPU Processing Units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AI algorithms and cybersecurity analysis.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real-time threat monitoring.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Appliances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Firewalls, routers, and intrusion detection systems.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and filter network traffic.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Systems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security logs, incident reports, and threat data.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historical records for forensic analysis.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Workstations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security analysts to monitor and manage incidents.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access to the analyst workbench.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Infrastructure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communication between servers, devices, and security components.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 collection and threat intelligence sharing.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62746" y="0"/>
            <a:ext cx="6525254" cy="9258300"/>
            <a:chOff x="0" y="0"/>
            <a:chExt cx="8700339" cy="123444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202" b="2202"/>
            <a:stretch>
              <a:fillRect/>
            </a:stretch>
          </p:blipFill>
          <p:spPr>
            <a:xfrm>
              <a:off x="0" y="0"/>
              <a:ext cx="8700339" cy="1234440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500536" y="178198"/>
            <a:ext cx="8761674" cy="84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9"/>
              </a:lnSpc>
            </a:pPr>
            <a:r>
              <a:rPr lang="en-US" sz="6309" dirty="0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Software Components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806805" y="1024269"/>
            <a:ext cx="1911881" cy="1518644"/>
            <a:chOff x="0" y="0"/>
            <a:chExt cx="503541" cy="3999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3541" cy="399972"/>
            </a:xfrm>
            <a:custGeom>
              <a:avLst/>
              <a:gdLst/>
              <a:ahLst/>
              <a:cxnLst/>
              <a:rect l="l" t="t" r="r" b="b"/>
              <a:pathLst>
                <a:path w="503541" h="399972">
                  <a:moveTo>
                    <a:pt x="0" y="0"/>
                  </a:moveTo>
                  <a:lnTo>
                    <a:pt x="503541" y="0"/>
                  </a:lnTo>
                  <a:lnTo>
                    <a:pt x="503541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3541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71600" y="1868235"/>
            <a:ext cx="10005664" cy="7013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programming language used for system development. </a:t>
            </a:r>
          </a:p>
          <a:p>
            <a:pPr algn="just">
              <a:lnSpc>
                <a:spcPct val="150000"/>
              </a:lnSpc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Algorithms (BFS, DFS, A)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Used for attack path tracing and threat investigation.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identify potential attack routes in a network.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Satisfaction Problem (CSP)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Allocates incidents to analysts based on constraints.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resource utilization and workload balancing.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Inference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probabilistic threat assessment.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threat likelihood based on observed evidence.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Utility-Based Decision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response actions using expected utility.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most effective mitigation strategy.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transparent explanations for AI decisions.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trust and accountability.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Engine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suspicious activities and cyber attacks.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alerts for potential threats.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Analyst Workbench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analysts to review incidents.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manual approval, rejection, and override actions.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Reporting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incident logs and response history.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security reports and audit records.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0" y="9258300"/>
            <a:ext cx="11762746" cy="1518644"/>
            <a:chOff x="0" y="0"/>
            <a:chExt cx="3098007" cy="3999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98007" cy="399972"/>
            </a:xfrm>
            <a:custGeom>
              <a:avLst/>
              <a:gdLst/>
              <a:ahLst/>
              <a:cxnLst/>
              <a:rect l="l" t="t" r="r" b="b"/>
              <a:pathLst>
                <a:path w="3098007" h="399972">
                  <a:moveTo>
                    <a:pt x="0" y="0"/>
                  </a:moveTo>
                  <a:lnTo>
                    <a:pt x="3098007" y="0"/>
                  </a:lnTo>
                  <a:lnTo>
                    <a:pt x="3098007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098007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 flipV="1">
            <a:off x="1047750" y="3453734"/>
            <a:ext cx="0" cy="495814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64131" y="-244896"/>
            <a:ext cx="2354983" cy="10823772"/>
            <a:chOff x="0" y="0"/>
            <a:chExt cx="620242" cy="28507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242" cy="2850705"/>
            </a:xfrm>
            <a:custGeom>
              <a:avLst/>
              <a:gdLst/>
              <a:ahLst/>
              <a:cxnLst/>
              <a:rect l="l" t="t" r="r" b="b"/>
              <a:pathLst>
                <a:path w="620242" h="2850705">
                  <a:moveTo>
                    <a:pt x="0" y="0"/>
                  </a:moveTo>
                  <a:lnTo>
                    <a:pt x="620242" y="0"/>
                  </a:lnTo>
                  <a:lnTo>
                    <a:pt x="620242" y="2850705"/>
                  </a:lnTo>
                  <a:lnTo>
                    <a:pt x="0" y="2850705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20242" cy="2888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7750" y="0"/>
            <a:ext cx="4068476" cy="10287000"/>
            <a:chOff x="0" y="0"/>
            <a:chExt cx="5424634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5307" r="15307"/>
            <a:stretch>
              <a:fillRect/>
            </a:stretch>
          </p:blipFill>
          <p:spPr>
            <a:xfrm>
              <a:off x="0" y="0"/>
              <a:ext cx="5424634" cy="1371600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4160285" y="5121330"/>
            <a:ext cx="1911881" cy="4136970"/>
            <a:chOff x="0" y="0"/>
            <a:chExt cx="503541" cy="10895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3541" cy="1089572"/>
            </a:xfrm>
            <a:custGeom>
              <a:avLst/>
              <a:gdLst/>
              <a:ahLst/>
              <a:cxnLst/>
              <a:rect l="l" t="t" r="r" b="b"/>
              <a:pathLst>
                <a:path w="503541" h="1089572">
                  <a:moveTo>
                    <a:pt x="0" y="0"/>
                  </a:moveTo>
                  <a:lnTo>
                    <a:pt x="503541" y="0"/>
                  </a:lnTo>
                  <a:lnTo>
                    <a:pt x="503541" y="1089572"/>
                  </a:lnTo>
                  <a:lnTo>
                    <a:pt x="0" y="10895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3541" cy="1127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81620" y="88685"/>
            <a:ext cx="5619683" cy="118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92"/>
              </a:lnSpc>
            </a:pPr>
            <a:r>
              <a:rPr lang="en-US" sz="6000" b="1" dirty="0">
                <a:solidFill>
                  <a:srgbClr val="2E2E2E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Existing System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259300" y="-489944"/>
            <a:ext cx="1911881" cy="1518644"/>
            <a:chOff x="0" y="0"/>
            <a:chExt cx="503541" cy="399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3541" cy="399972"/>
            </a:xfrm>
            <a:custGeom>
              <a:avLst/>
              <a:gdLst/>
              <a:ahLst/>
              <a:cxnLst/>
              <a:rect l="l" t="t" r="r" b="b"/>
              <a:pathLst>
                <a:path w="503541" h="399972">
                  <a:moveTo>
                    <a:pt x="0" y="0"/>
                  </a:moveTo>
                  <a:lnTo>
                    <a:pt x="503541" y="0"/>
                  </a:lnTo>
                  <a:lnTo>
                    <a:pt x="503541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3541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92D468B-F865-8C4D-AF08-29BE4A7218CA}"/>
              </a:ext>
            </a:extLst>
          </p:cNvPr>
          <p:cNvSpPr txBox="1"/>
          <p:nvPr/>
        </p:nvSpPr>
        <p:spPr>
          <a:xfrm>
            <a:off x="6386536" y="1377691"/>
            <a:ext cx="11658600" cy="7660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manual monitoring and rule-based detection.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human analysts for threat investigation and response.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large numbers of security alerts.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 delayed incident detection and mitigation.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high false positive rates and alert fatigue.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intelligent decision-making and automation.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efficiently handle multiple incidents simultaneously.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limited scalability and adaptability to modern cyber threats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response time.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analyst workload.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resource utilization.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threat detection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10703" y="1701088"/>
            <a:ext cx="4220653" cy="3175534"/>
            <a:chOff x="0" y="0"/>
            <a:chExt cx="5627538" cy="423404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788198" y="1901113"/>
            <a:ext cx="4342678" cy="532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92"/>
              </a:lnSpc>
            </a:pPr>
            <a:r>
              <a:rPr lang="en-US" sz="10392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Existing Architecture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994857" y="3287527"/>
            <a:ext cx="3555832" cy="994136"/>
            <a:chOff x="0" y="0"/>
            <a:chExt cx="936515" cy="2618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36515" cy="309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84"/>
                </a:lnSpc>
                <a:spcBef>
                  <a:spcPct val="0"/>
                </a:spcBef>
              </a:pPr>
              <a:r>
                <a:rPr lang="en-US" sz="284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Manual Monitoring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10703" y="5133909"/>
            <a:ext cx="4220653" cy="3175534"/>
            <a:chOff x="0" y="0"/>
            <a:chExt cx="5627538" cy="4234046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3038647" y="1701088"/>
            <a:ext cx="4220653" cy="3175534"/>
            <a:chOff x="0" y="0"/>
            <a:chExt cx="5627538" cy="4234046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4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2322802" y="3287527"/>
            <a:ext cx="3555832" cy="994136"/>
            <a:chOff x="0" y="0"/>
            <a:chExt cx="936515" cy="2618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36515" cy="309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84"/>
                </a:lnSpc>
                <a:spcBef>
                  <a:spcPct val="0"/>
                </a:spcBef>
              </a:pPr>
              <a:r>
                <a:rPr lang="en-US" sz="284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Rule-Based Alerts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94857" y="6720348"/>
            <a:ext cx="3555832" cy="994136"/>
            <a:chOff x="0" y="0"/>
            <a:chExt cx="936515" cy="2618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36515" cy="309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84"/>
                </a:lnSpc>
                <a:spcBef>
                  <a:spcPct val="0"/>
                </a:spcBef>
              </a:pPr>
              <a:r>
                <a:rPr lang="en-US" sz="284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Human Analysis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038647" y="5133909"/>
            <a:ext cx="4220653" cy="3175534"/>
            <a:chOff x="0" y="0"/>
            <a:chExt cx="5627538" cy="4234046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2322802" y="6720348"/>
            <a:ext cx="3555832" cy="994136"/>
            <a:chOff x="0" y="0"/>
            <a:chExt cx="936515" cy="2618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36515" cy="309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84"/>
                </a:lnSpc>
                <a:spcBef>
                  <a:spcPct val="0"/>
                </a:spcBef>
              </a:pPr>
              <a:r>
                <a:rPr lang="en-US" sz="284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Delayed Response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9216450"/>
            <a:ext cx="16230600" cy="2364104"/>
            <a:chOff x="0" y="0"/>
            <a:chExt cx="4274726" cy="6226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74726" cy="622645"/>
            </a:xfrm>
            <a:custGeom>
              <a:avLst/>
              <a:gdLst/>
              <a:ahLst/>
              <a:cxnLst/>
              <a:rect l="l" t="t" r="r" b="b"/>
              <a:pathLst>
                <a:path w="4274726" h="622645">
                  <a:moveTo>
                    <a:pt x="0" y="0"/>
                  </a:moveTo>
                  <a:lnTo>
                    <a:pt x="4274726" y="0"/>
                  </a:lnTo>
                  <a:lnTo>
                    <a:pt x="4274726" y="622645"/>
                  </a:lnTo>
                  <a:lnTo>
                    <a:pt x="0" y="622645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274726" cy="660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 flipH="1" flipV="1">
            <a:off x="1047750" y="1760370"/>
            <a:ext cx="0" cy="4148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64131" y="-244896"/>
            <a:ext cx="2354983" cy="10823772"/>
            <a:chOff x="0" y="0"/>
            <a:chExt cx="620242" cy="28507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242" cy="2850705"/>
            </a:xfrm>
            <a:custGeom>
              <a:avLst/>
              <a:gdLst/>
              <a:ahLst/>
              <a:cxnLst/>
              <a:rect l="l" t="t" r="r" b="b"/>
              <a:pathLst>
                <a:path w="620242" h="2850705">
                  <a:moveTo>
                    <a:pt x="0" y="0"/>
                  </a:moveTo>
                  <a:lnTo>
                    <a:pt x="620242" y="0"/>
                  </a:lnTo>
                  <a:lnTo>
                    <a:pt x="620242" y="2850705"/>
                  </a:lnTo>
                  <a:lnTo>
                    <a:pt x="0" y="2850705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20242" cy="2888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47750" y="0"/>
            <a:ext cx="4068476" cy="10287000"/>
            <a:chOff x="0" y="0"/>
            <a:chExt cx="5424634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15307" r="15307"/>
            <a:stretch>
              <a:fillRect/>
            </a:stretch>
          </p:blipFill>
          <p:spPr>
            <a:xfrm>
              <a:off x="0" y="0"/>
              <a:ext cx="5424634" cy="1371600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6480440" y="1184422"/>
            <a:ext cx="11734800" cy="703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an AI-powered Hybrid Incident Response Agent (HIRA).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threat detection, analysis, and response processes.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Search Algorithms (BFS, DFS, A*) for attack path investigation.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CSP for efficient incident scheduling and resource allocation.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Bayesian Inference for probabilistic threat assessment.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Utility-Based Decision Making for optimal response selection.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Explainable AI for transparent and understandable decisions.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Human-in-the-Loop validation for critical incidents.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response speed, accuracy, and overall cybersecurity management</a:t>
            </a:r>
            <a:r>
              <a:rPr lang="en-IN" sz="2800" dirty="0"/>
              <a:t>. </a:t>
            </a:r>
          </a:p>
          <a:p>
            <a:r>
              <a:rPr lang="en-IN" sz="6600" b="1" dirty="0"/>
              <a:t>Advantages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threat detection and mitigation.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analyst workload.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 accuracy.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system reliability and security.</a:t>
            </a:r>
          </a:p>
          <a:p>
            <a:pPr marL="0" lvl="0" indent="0" algn="just">
              <a:lnSpc>
                <a:spcPts val="3453"/>
              </a:lnSpc>
            </a:pPr>
            <a:endParaRPr lang="en-US" sz="2466" dirty="0">
              <a:solidFill>
                <a:srgbClr val="2E2E2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4160285" y="5121330"/>
            <a:ext cx="1911881" cy="4136970"/>
            <a:chOff x="0" y="0"/>
            <a:chExt cx="503541" cy="10895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3541" cy="1089572"/>
            </a:xfrm>
            <a:custGeom>
              <a:avLst/>
              <a:gdLst/>
              <a:ahLst/>
              <a:cxnLst/>
              <a:rect l="l" t="t" r="r" b="b"/>
              <a:pathLst>
                <a:path w="503541" h="1089572">
                  <a:moveTo>
                    <a:pt x="0" y="0"/>
                  </a:moveTo>
                  <a:lnTo>
                    <a:pt x="503541" y="0"/>
                  </a:lnTo>
                  <a:lnTo>
                    <a:pt x="503541" y="1089572"/>
                  </a:lnTo>
                  <a:lnTo>
                    <a:pt x="0" y="10895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03541" cy="1127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34158" y="6145"/>
            <a:ext cx="5619683" cy="10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75"/>
              </a:lnSpc>
            </a:pPr>
            <a:r>
              <a:rPr lang="en-US" sz="6000" b="1" dirty="0">
                <a:solidFill>
                  <a:srgbClr val="2E2E2E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Proposed System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259300" y="-489944"/>
            <a:ext cx="1911881" cy="1518644"/>
            <a:chOff x="0" y="0"/>
            <a:chExt cx="503541" cy="399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3541" cy="399972"/>
            </a:xfrm>
            <a:custGeom>
              <a:avLst/>
              <a:gdLst/>
              <a:ahLst/>
              <a:cxnLst/>
              <a:rect l="l" t="t" r="r" b="b"/>
              <a:pathLst>
                <a:path w="503541" h="399972">
                  <a:moveTo>
                    <a:pt x="0" y="0"/>
                  </a:moveTo>
                  <a:lnTo>
                    <a:pt x="503541" y="0"/>
                  </a:lnTo>
                  <a:lnTo>
                    <a:pt x="503541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3541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10703" y="1701088"/>
            <a:ext cx="4220653" cy="3175534"/>
            <a:chOff x="0" y="0"/>
            <a:chExt cx="5627538" cy="423404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788197" y="1901113"/>
            <a:ext cx="5206653" cy="2574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0392"/>
              </a:lnSpc>
            </a:pPr>
            <a:r>
              <a:rPr lang="en-US" sz="8000" dirty="0">
                <a:solidFill>
                  <a:srgbClr val="2E2E2E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Proposed Architecture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994857" y="3287527"/>
            <a:ext cx="3555832" cy="994136"/>
            <a:chOff x="0" y="0"/>
            <a:chExt cx="936515" cy="2618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36515" cy="31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Detection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10703" y="5133909"/>
            <a:ext cx="4220653" cy="3175534"/>
            <a:chOff x="0" y="0"/>
            <a:chExt cx="5627538" cy="4234046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3038647" y="1701088"/>
            <a:ext cx="4220653" cy="3175534"/>
            <a:chOff x="0" y="0"/>
            <a:chExt cx="5627538" cy="4234046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4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2322802" y="3287527"/>
            <a:ext cx="3555832" cy="994136"/>
            <a:chOff x="0" y="0"/>
            <a:chExt cx="936515" cy="2618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36515" cy="31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Bayesian Engine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94857" y="6720348"/>
            <a:ext cx="3555832" cy="994136"/>
            <a:chOff x="0" y="0"/>
            <a:chExt cx="936515" cy="2618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936515" cy="31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Decision Maker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038647" y="5133909"/>
            <a:ext cx="4220653" cy="3175534"/>
            <a:chOff x="0" y="0"/>
            <a:chExt cx="5627538" cy="4234046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5"/>
            <a:srcRect l="407" r="407"/>
            <a:stretch>
              <a:fillRect/>
            </a:stretch>
          </p:blipFill>
          <p:spPr>
            <a:xfrm>
              <a:off x="0" y="0"/>
              <a:ext cx="5627538" cy="4234046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12322802" y="6720348"/>
            <a:ext cx="3555832" cy="994136"/>
            <a:chOff x="0" y="0"/>
            <a:chExt cx="936515" cy="2618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6515" cy="261830"/>
            </a:xfrm>
            <a:custGeom>
              <a:avLst/>
              <a:gdLst/>
              <a:ahLst/>
              <a:cxnLst/>
              <a:rect l="l" t="t" r="r" b="b"/>
              <a:pathLst>
                <a:path w="936515" h="261830">
                  <a:moveTo>
                    <a:pt x="0" y="0"/>
                  </a:moveTo>
                  <a:lnTo>
                    <a:pt x="936515" y="0"/>
                  </a:lnTo>
                  <a:lnTo>
                    <a:pt x="936515" y="261830"/>
                  </a:lnTo>
                  <a:lnTo>
                    <a:pt x="0" y="261830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36515" cy="318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Explainable AI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9216450"/>
            <a:ext cx="16230600" cy="2364104"/>
            <a:chOff x="0" y="0"/>
            <a:chExt cx="4274726" cy="6226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274726" cy="622645"/>
            </a:xfrm>
            <a:custGeom>
              <a:avLst/>
              <a:gdLst/>
              <a:ahLst/>
              <a:cxnLst/>
              <a:rect l="l" t="t" r="r" b="b"/>
              <a:pathLst>
                <a:path w="4274726" h="622645">
                  <a:moveTo>
                    <a:pt x="0" y="0"/>
                  </a:moveTo>
                  <a:lnTo>
                    <a:pt x="4274726" y="0"/>
                  </a:lnTo>
                  <a:lnTo>
                    <a:pt x="4274726" y="622645"/>
                  </a:lnTo>
                  <a:lnTo>
                    <a:pt x="0" y="622645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274726" cy="660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 flipH="1" flipV="1">
            <a:off x="1047750" y="1760370"/>
            <a:ext cx="0" cy="4148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65945" y="1028700"/>
            <a:ext cx="7393355" cy="5999393"/>
            <a:chOff x="0" y="0"/>
            <a:chExt cx="9857807" cy="799919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8921" r="8921"/>
            <a:stretch>
              <a:fillRect/>
            </a:stretch>
          </p:blipFill>
          <p:spPr>
            <a:xfrm>
              <a:off x="0" y="0"/>
              <a:ext cx="9857807" cy="7999191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586891" y="2001212"/>
            <a:ext cx="7720863" cy="448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21"/>
              </a:lnSpc>
            </a:pPr>
            <a:r>
              <a:rPr lang="en-US" sz="17321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Thank You.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9258300"/>
            <a:ext cx="8837245" cy="1518644"/>
            <a:chOff x="0" y="0"/>
            <a:chExt cx="2327505" cy="3999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27505" cy="399972"/>
            </a:xfrm>
            <a:custGeom>
              <a:avLst/>
              <a:gdLst/>
              <a:ahLst/>
              <a:cxnLst/>
              <a:rect l="l" t="t" r="r" b="b"/>
              <a:pathLst>
                <a:path w="2327505" h="399972">
                  <a:moveTo>
                    <a:pt x="0" y="0"/>
                  </a:moveTo>
                  <a:lnTo>
                    <a:pt x="2327505" y="0"/>
                  </a:lnTo>
                  <a:lnTo>
                    <a:pt x="2327505" y="399972"/>
                  </a:lnTo>
                  <a:lnTo>
                    <a:pt x="0" y="399972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27505" cy="438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8905" y="7751265"/>
            <a:ext cx="6970395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70"/>
              </a:lnSpc>
            </a:pPr>
            <a:r>
              <a:rPr lang="en-US" sz="1975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Discussion</a:t>
            </a:r>
          </a:p>
          <a:p>
            <a:pPr marL="0" lvl="0" indent="0" algn="just">
              <a:lnSpc>
                <a:spcPts val="2370"/>
              </a:lnSpc>
            </a:pPr>
            <a:r>
              <a:rPr lang="en-US" sz="1975">
                <a:solidFill>
                  <a:srgbClr val="2E2E2E"/>
                </a:solidFill>
                <a:latin typeface="Montserrat"/>
                <a:ea typeface="Montserrat"/>
                <a:cs typeface="Montserrat"/>
                <a:sym typeface="Montserrat"/>
              </a:rPr>
              <a:t>We appreciate your time and attention throughout this presentation on the Hybrid Incident Response Agent.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259300" y="1028700"/>
            <a:ext cx="1289343" cy="5999393"/>
            <a:chOff x="0" y="0"/>
            <a:chExt cx="339580" cy="15800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9580" cy="1580087"/>
            </a:xfrm>
            <a:custGeom>
              <a:avLst/>
              <a:gdLst/>
              <a:ahLst/>
              <a:cxnLst/>
              <a:rect l="l" t="t" r="r" b="b"/>
              <a:pathLst>
                <a:path w="339580" h="1580087">
                  <a:moveTo>
                    <a:pt x="0" y="0"/>
                  </a:moveTo>
                  <a:lnTo>
                    <a:pt x="339580" y="0"/>
                  </a:lnTo>
                  <a:lnTo>
                    <a:pt x="339580" y="1580087"/>
                  </a:lnTo>
                  <a:lnTo>
                    <a:pt x="0" y="1580087"/>
                  </a:ln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39580" cy="16181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AutoShape 12"/>
          <p:cNvSpPr/>
          <p:nvPr/>
        </p:nvSpPr>
        <p:spPr>
          <a:xfrm>
            <a:off x="1586891" y="7028093"/>
            <a:ext cx="67868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-260643" y="-314125"/>
            <a:ext cx="1289343" cy="1342825"/>
            <a:chOff x="0" y="0"/>
            <a:chExt cx="339580" cy="3536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9580" cy="353666"/>
            </a:xfrm>
            <a:custGeom>
              <a:avLst/>
              <a:gdLst/>
              <a:ahLst/>
              <a:cxnLst/>
              <a:rect l="l" t="t" r="r" b="b"/>
              <a:pathLst>
                <a:path w="339580" h="353666">
                  <a:moveTo>
                    <a:pt x="0" y="0"/>
                  </a:moveTo>
                  <a:lnTo>
                    <a:pt x="339580" y="0"/>
                  </a:lnTo>
                  <a:lnTo>
                    <a:pt x="339580" y="353666"/>
                  </a:lnTo>
                  <a:lnTo>
                    <a:pt x="0" y="353666"/>
                  </a:lnTo>
                  <a:close/>
                </a:path>
              </a:pathLst>
            </a:custGeom>
            <a:solidFill>
              <a:srgbClr val="2B3D6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39580" cy="3917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658</Words>
  <Application>Microsoft Office PowerPoint</Application>
  <PresentationFormat>Custom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Open Sauce</vt:lpstr>
      <vt:lpstr>Calibri</vt:lpstr>
      <vt:lpstr>Times New Roman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Nettam Pranay Chowdary</cp:lastModifiedBy>
  <cp:revision>2</cp:revision>
  <dcterms:created xsi:type="dcterms:W3CDTF">2006-08-16T00:00:00Z</dcterms:created>
  <dcterms:modified xsi:type="dcterms:W3CDTF">2026-06-15T17:15:16Z</dcterms:modified>
  <dc:identifier>DAHMqA09Mjs</dc:identifier>
</cp:coreProperties>
</file>